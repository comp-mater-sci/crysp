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  <p:sldMasterId id="2147483694" r:id="rId2"/>
  </p:sldMasterIdLst>
  <p:notesMasterIdLst>
    <p:notesMasterId r:id="rId6"/>
  </p:notesMasterIdLst>
  <p:handoutMasterIdLst>
    <p:handoutMasterId r:id="rId7"/>
  </p:handoutMasterIdLst>
  <p:sldIdLst>
    <p:sldId id="392" r:id="rId3"/>
    <p:sldId id="399" r:id="rId4"/>
    <p:sldId id="401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CE7F0"/>
    <a:srgbClr val="2F4D5D"/>
    <a:srgbClr val="1D8DB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102" autoAdjust="0"/>
    <p:restoredTop sz="94652"/>
  </p:normalViewPr>
  <p:slideViewPr>
    <p:cSldViewPr snapToGrid="0" snapToObjects="1">
      <p:cViewPr>
        <p:scale>
          <a:sx n="75" d="100"/>
          <a:sy n="75" d="100"/>
        </p:scale>
        <p:origin x="-204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42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>
              <a:latin typeface="Arial" panose="020B0604020202020204" pitchFamily="34" charset="0"/>
            </a:endParaRPr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91CCF-F6FD-734B-854A-5BC033593B1E}" type="datetimeFigureOut">
              <a:rPr lang="nl-NL" smtClean="0">
                <a:latin typeface="Arial" panose="020B0604020202020204" pitchFamily="34" charset="0"/>
              </a:rPr>
              <a:t>15-1-2021</a:t>
            </a:fld>
            <a:endParaRPr lang="nl-NL">
              <a:latin typeface="Arial" panose="020B0604020202020204" pitchFamily="34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>
              <a:latin typeface="Arial" panose="020B0604020202020204" pitchFamily="34" charset="0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>
                <a:latin typeface="Arial" panose="020B0604020202020204" pitchFamily="34" charset="0"/>
              </a:rPr>
              <a:t>‹#›</a:t>
            </a:fld>
            <a:endParaRPr 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3C66214-DB21-4647-B5DA-0D17CA592867}" type="datetimeFigureOut">
              <a:rPr lang="nl-NL" smtClean="0"/>
              <a:pPr/>
              <a:t>15-1-2021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954E32A-327F-AF4B-8E1F-209FBF93D26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10" name="Rechthoek 9"/>
          <p:cNvSpPr/>
          <p:nvPr userDrawn="1"/>
        </p:nvSpPr>
        <p:spPr>
          <a:xfrm>
            <a:off x="0" y="648000"/>
            <a:ext cx="12193200" cy="621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8" name="Rechthoek 7"/>
          <p:cNvSpPr/>
          <p:nvPr userDrawn="1"/>
        </p:nvSpPr>
        <p:spPr>
          <a:xfrm>
            <a:off x="0" y="647998"/>
            <a:ext cx="12193200" cy="445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9" name="Afbeelding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75999" y="1080000"/>
            <a:ext cx="6096524" cy="4024798"/>
          </a:xfrm>
        </p:spPr>
        <p:txBody>
          <a:bodyPr anchor="ctr" anchorCtr="0">
            <a:normAutofit/>
          </a:bodyPr>
          <a:lstStyle>
            <a:lvl1pPr algn="l">
              <a:defRPr sz="4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575999" y="5392801"/>
            <a:ext cx="6096524" cy="730188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nl-NL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248525" y="1654175"/>
            <a:ext cx="4368673" cy="4468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861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4203">
          <p15:clr>
            <a:srgbClr val="FBAE40"/>
          </p15:clr>
        </p15:guide>
        <p15:guide id="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36D0-E188-499B-A063-E30C52BBA65B}" type="datetime1">
              <a:rPr lang="nl-BE" smtClean="0"/>
              <a:t>15/01/2021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524" cy="2386800"/>
          </a:xfrm>
        </p:spPr>
        <p:txBody>
          <a:bodyPr anchor="b"/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0969-739A-495B-9AC8-9E83DBD19472}" type="datetime1">
              <a:rPr lang="nl-BE" smtClean="0"/>
              <a:t>15/01/2021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7248262" y="3248513"/>
            <a:ext cx="4368673" cy="2376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4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5999" y="1800000"/>
            <a:ext cx="6096264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5999" y="4359600"/>
            <a:ext cx="6096264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3A32B-624A-4D19-87A0-E1B3FD383FFA}" type="datetime1">
              <a:rPr lang="nl-BE" smtClean="0"/>
              <a:t>15/01/2021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7248525" y="584201"/>
            <a:ext cx="4368673" cy="50403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 userDrawn="1">
          <p15:clr>
            <a:srgbClr val="FBAE40"/>
          </p15:clr>
        </p15:guide>
        <p15:guide id="2" pos="4203" userDrawn="1">
          <p15:clr>
            <a:srgbClr val="FBAE40"/>
          </p15:clr>
        </p15:guide>
        <p15:guide id="3" orient="horz" pos="36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776D5-6471-4EFF-BEAC-785903B7FED9}" type="datetime1">
              <a:rPr lang="nl-BE" smtClean="0"/>
              <a:t>15/01/2021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ijdelijke aanduiding voor tekst 2"/>
          <p:cNvSpPr>
            <a:spLocks noGrp="1"/>
          </p:cNvSpPr>
          <p:nvPr>
            <p:ph idx="1"/>
          </p:nvPr>
        </p:nvSpPr>
        <p:spPr>
          <a:xfrm>
            <a:off x="576000" y="1656000"/>
            <a:ext cx="54000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6217200" y="1656000"/>
            <a:ext cx="5400000" cy="4464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5958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5421575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576000" y="2276271"/>
            <a:ext cx="5421575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56000"/>
            <a:ext cx="5445000" cy="54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276271"/>
            <a:ext cx="5445000" cy="383765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EAB7-456F-4852-B075-588A4BB01E68}" type="datetime1">
              <a:rPr lang="nl-BE" smtClean="0"/>
              <a:t>15/01/2021</a:t>
            </a:fld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400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93D8-4D6A-4159-B2D6-5CAAABFF1A22}" type="datetime1">
              <a:rPr lang="nl-BE" smtClean="0"/>
              <a:t>15/01/2021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66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006A-A638-4A45-BEF9-2F5A607B99F5}" type="datetime1">
              <a:rPr lang="nl-BE" smtClean="0"/>
              <a:t>15/01/2021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77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Fin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/>
          <p:cNvSpPr/>
          <p:nvPr userDrawn="1"/>
        </p:nvSpPr>
        <p:spPr>
          <a:xfrm>
            <a:off x="0" y="0"/>
            <a:ext cx="12193200" cy="6209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79120" y="510988"/>
            <a:ext cx="11039793" cy="5184424"/>
          </a:xfrm>
        </p:spPr>
        <p:txBody>
          <a:bodyPr anchor="ctr" anchorCtr="0">
            <a:noAutofit/>
          </a:bodyPr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E52BB-B06C-4FE4-BEA7-7AF30AE8D9B1}" type="datetime1">
              <a:rPr lang="nl-BE" smtClean="0"/>
              <a:t>15/01/2021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8" name="Rechthoek 7"/>
          <p:cNvSpPr/>
          <p:nvPr/>
        </p:nvSpPr>
        <p:spPr>
          <a:xfrm>
            <a:off x="0" y="647998"/>
            <a:ext cx="12193200" cy="6210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9" name="Afbeelding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360000"/>
            <a:ext cx="2018135" cy="72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1350253"/>
            <a:ext cx="4648209" cy="5507747"/>
          </a:xfrm>
          <a:prstGeom prst="rect">
            <a:avLst/>
          </a:prstGeom>
        </p:spPr>
      </p:pic>
      <p:sp>
        <p:nvSpPr>
          <p:cNvPr id="12" name="Ondertitel 2"/>
          <p:cNvSpPr>
            <a:spLocks noGrp="1"/>
          </p:cNvSpPr>
          <p:nvPr>
            <p:ph type="subTitle" idx="1"/>
          </p:nvPr>
        </p:nvSpPr>
        <p:spPr>
          <a:xfrm>
            <a:off x="576003" y="4359604"/>
            <a:ext cx="8333999" cy="1655999"/>
          </a:xfrm>
        </p:spPr>
        <p:txBody>
          <a:bodyPr lIns="0" tIns="0" rIns="0" bIns="0"/>
          <a:lstStyle>
            <a:lvl1pPr marL="0" indent="0" algn="l">
              <a:buNone/>
              <a:defRPr sz="2400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6000" y="1800000"/>
            <a:ext cx="8334000" cy="2386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de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2038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12193200" cy="62075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7EB3-0723-4C33-A2DC-6917C9CA571A}" type="datetime1">
              <a:rPr lang="nl-BE" smtClean="0"/>
              <a:t>15/01/2021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rgbClr val="1D8DB0"/>
                </a:solidFill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0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005E77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322770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819D0-E997-4D10-8966-002558C5432F}" type="datetime1">
              <a:rPr lang="nl-BE" smtClean="0"/>
              <a:t>15/01/2021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79DAE-D0A6-40C3-B8BC-6A97C268D03A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1" y="675126"/>
            <a:ext cx="4648209" cy="5507747"/>
          </a:xfrm>
          <a:prstGeom prst="rect">
            <a:avLst/>
          </a:prstGeom>
        </p:spPr>
      </p:pic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6003" y="1800000"/>
            <a:ext cx="8333999" cy="23868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nl-NL" dirty="0"/>
              <a:t>Klik om de stijl te bewerken</a:t>
            </a:r>
          </a:p>
        </p:txBody>
      </p:sp>
      <p:sp>
        <p:nvSpPr>
          <p:cNvPr id="9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3" y="4359600"/>
            <a:ext cx="8333999" cy="1501200"/>
          </a:xfrm>
        </p:spPr>
        <p:txBody>
          <a:bodyPr lIns="0" tIns="0" rIns="0" bIns="0"/>
          <a:lstStyle>
            <a:lvl1pPr marL="0" indent="0">
              <a:buNone/>
              <a:defRPr sz="2400" baseline="0">
                <a:solidFill>
                  <a:srgbClr val="2F4D5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32706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 userDrawn="1"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8" name="Afbeelding 7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07036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90315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9EB15C0D-7927-40B6-88B8-DB26DAC0C328}" type="datetime1">
              <a:rPr lang="nl-BE" smtClean="0"/>
              <a:pPr/>
              <a:t>15/01/2021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/>
              <a:t>Department of Materials Engineering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61" r:id="rId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2" userDrawn="1">
          <p15:clr>
            <a:srgbClr val="F26B43"/>
          </p15:clr>
        </p15:guide>
        <p15:guide id="2" pos="7319" userDrawn="1">
          <p15:clr>
            <a:srgbClr val="F26B43"/>
          </p15:clr>
        </p15:guide>
        <p15:guide id="3" orient="horz" pos="3857" userDrawn="1">
          <p15:clr>
            <a:srgbClr val="F26B43"/>
          </p15:clr>
        </p15:guide>
        <p15:guide id="4" pos="3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6210000"/>
            <a:ext cx="12192000" cy="64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>
              <a:latin typeface="Arial" panose="020B0604020202020204" pitchFamily="34" charset="0"/>
            </a:endParaRPr>
          </a:p>
        </p:txBody>
      </p:sp>
      <p:pic>
        <p:nvPicPr>
          <p:cNvPr id="8" name="Afbeelding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200" y="6353999"/>
            <a:ext cx="1008305" cy="360000"/>
          </a:xfrm>
          <a:prstGeom prst="rect">
            <a:avLst/>
          </a:prstGeom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216000"/>
            <a:ext cx="11041200" cy="1152000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656000"/>
            <a:ext cx="11041200" cy="446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16C7DC62-5684-4D3E-A4B3-94058A773A6B}" type="datetime1">
              <a:rPr lang="nl-BE" smtClean="0"/>
              <a:pPr/>
              <a:t>15/01/2021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033600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/>
              <a:t>Department of Materials Engineering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2523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53C9E9-5E1C-4816-AC6F-B7D6F68B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D7D73C-47C4-43D0-AF04-48548DEE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1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A4C2D-9654-4F35-8F03-60BDFAEA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911" y="960212"/>
            <a:ext cx="9777378" cy="4937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B321B1-9C21-4176-9384-34CBD895EA9D}"/>
              </a:ext>
            </a:extLst>
          </p:cNvPr>
          <p:cNvSpPr txBox="1"/>
          <p:nvPr/>
        </p:nvSpPr>
        <p:spPr>
          <a:xfrm>
            <a:off x="523817" y="881299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TITglij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3FB4BA-2C23-41A4-9C55-03CB03777A0F}"/>
              </a:ext>
            </a:extLst>
          </p:cNvPr>
          <p:cNvSpPr txBox="1"/>
          <p:nvPr/>
        </p:nvSpPr>
        <p:spPr>
          <a:xfrm>
            <a:off x="1646519" y="747843"/>
            <a:ext cx="21387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/>
              <a:t>NGL  NTW                      DI1                     X      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5F1E4-590F-4E44-90A2-B06EF668DDE2}"/>
              </a:ext>
            </a:extLst>
          </p:cNvPr>
          <p:cNvSpPr/>
          <p:nvPr/>
        </p:nvSpPr>
        <p:spPr>
          <a:xfrm>
            <a:off x="1753644" y="1189973"/>
            <a:ext cx="5636712" cy="273067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238F6-62F0-47CF-B25F-682CFE263C7E}"/>
              </a:ext>
            </a:extLst>
          </p:cNvPr>
          <p:cNvSpPr txBox="1"/>
          <p:nvPr/>
        </p:nvSpPr>
        <p:spPr>
          <a:xfrm>
            <a:off x="1946802" y="1690624"/>
            <a:ext cx="5463355" cy="156966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(A1)</a:t>
            </a:r>
            <a:r>
              <a:rPr lang="en-US" sz="3200" b="1" baseline="30000"/>
              <a:t>T</a:t>
            </a:r>
          </a:p>
          <a:p>
            <a:pPr algn="ctr"/>
            <a:r>
              <a:rPr lang="en-US" sz="1600" b="1"/>
              <a:t>each row is vector-formatted</a:t>
            </a:r>
          </a:p>
          <a:p>
            <a:pPr algn="ctr"/>
            <a:r>
              <a:rPr lang="en-US" sz="1600" b="1"/>
              <a:t>symmetric part of Schmid tensor</a:t>
            </a:r>
          </a:p>
          <a:p>
            <a:pPr algn="ctr"/>
            <a:r>
              <a:rPr lang="en-US" sz="1600" b="1"/>
              <a:t>(5 independent components);</a:t>
            </a:r>
          </a:p>
          <a:p>
            <a:pPr algn="ctr"/>
            <a:r>
              <a:rPr lang="en-US" sz="1600" b="1"/>
              <a:t>all deformation systems, first slip systems, then twins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49268D-C894-412C-ACAE-11DA4395347E}"/>
              </a:ext>
            </a:extLst>
          </p:cNvPr>
          <p:cNvSpPr/>
          <p:nvPr/>
        </p:nvSpPr>
        <p:spPr>
          <a:xfrm>
            <a:off x="7440459" y="1179705"/>
            <a:ext cx="3376985" cy="2730674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C7EE6C-085D-4295-A990-EDB439C7B503}"/>
              </a:ext>
            </a:extLst>
          </p:cNvPr>
          <p:cNvSpPr txBox="1"/>
          <p:nvPr/>
        </p:nvSpPr>
        <p:spPr>
          <a:xfrm>
            <a:off x="7440459" y="1678453"/>
            <a:ext cx="3826689" cy="1569660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(B1)</a:t>
            </a:r>
            <a:r>
              <a:rPr lang="en-US" sz="3200" b="1" baseline="30000"/>
              <a:t>T</a:t>
            </a:r>
          </a:p>
          <a:p>
            <a:pPr algn="ctr"/>
            <a:r>
              <a:rPr lang="en-US" sz="1600" b="1"/>
              <a:t>each row is vector-formatted</a:t>
            </a:r>
          </a:p>
          <a:p>
            <a:pPr algn="ctr"/>
            <a:r>
              <a:rPr lang="en-US" sz="1600" b="1"/>
              <a:t>anti-symmetric part of Schmid tensor</a:t>
            </a:r>
          </a:p>
          <a:p>
            <a:pPr algn="ctr"/>
            <a:r>
              <a:rPr lang="en-US" sz="1600" b="1"/>
              <a:t>(3 independent components)</a:t>
            </a:r>
          </a:p>
          <a:p>
            <a:pPr algn="ctr"/>
            <a:r>
              <a:rPr lang="en-US" sz="1600" b="1"/>
              <a:t>all deformation systems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D0CCA9-5882-4BEF-9229-9068E9644F5A}"/>
              </a:ext>
            </a:extLst>
          </p:cNvPr>
          <p:cNvSpPr/>
          <p:nvPr/>
        </p:nvSpPr>
        <p:spPr>
          <a:xfrm>
            <a:off x="1753644" y="3948479"/>
            <a:ext cx="6501356" cy="53462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411C1-B464-4558-8144-E587CD0B3FE5}"/>
              </a:ext>
            </a:extLst>
          </p:cNvPr>
          <p:cNvSpPr txBox="1"/>
          <p:nvPr/>
        </p:nvSpPr>
        <p:spPr>
          <a:xfrm>
            <a:off x="2485841" y="3651638"/>
            <a:ext cx="5195653" cy="1077218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(B)</a:t>
            </a:r>
            <a:r>
              <a:rPr lang="en-US" sz="3200" b="1" baseline="30000"/>
              <a:t>T</a:t>
            </a:r>
            <a:r>
              <a:rPr lang="en-US" sz="3200" b="1"/>
              <a:t> </a:t>
            </a:r>
          </a:p>
          <a:p>
            <a:pPr algn="ctr"/>
            <a:r>
              <a:rPr lang="en-US" sz="1600" b="1"/>
              <a:t>inverse of the sub-matrix of A1</a:t>
            </a:r>
          </a:p>
          <a:p>
            <a:pPr algn="ctr"/>
            <a:r>
              <a:rPr lang="en-US" sz="1600" b="1"/>
              <a:t>consisting of the initial guess deformation systems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D501F9-8482-43FE-9C00-1C37136ECC33}"/>
              </a:ext>
            </a:extLst>
          </p:cNvPr>
          <p:cNvSpPr/>
          <p:nvPr/>
        </p:nvSpPr>
        <p:spPr>
          <a:xfrm>
            <a:off x="1753644" y="4531946"/>
            <a:ext cx="6793456" cy="131671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3EEE7C-63E1-42C5-8B02-7A4A9DE6C7F1}"/>
              </a:ext>
            </a:extLst>
          </p:cNvPr>
          <p:cNvSpPr/>
          <p:nvPr/>
        </p:nvSpPr>
        <p:spPr>
          <a:xfrm>
            <a:off x="8636000" y="4519246"/>
            <a:ext cx="1069810" cy="131671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155F7-461D-4B6A-8109-725A4911ADEC}"/>
              </a:ext>
            </a:extLst>
          </p:cNvPr>
          <p:cNvSpPr txBox="1"/>
          <p:nvPr/>
        </p:nvSpPr>
        <p:spPr>
          <a:xfrm>
            <a:off x="2715882" y="4872301"/>
            <a:ext cx="4584909" cy="830997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(B2)</a:t>
            </a:r>
            <a:r>
              <a:rPr lang="en-US" sz="3200" b="1" baseline="30000"/>
              <a:t>T</a:t>
            </a:r>
          </a:p>
          <a:p>
            <a:pPr algn="ctr"/>
            <a:r>
              <a:rPr lang="en-US" sz="1600" b="1"/>
              <a:t>each row is matrix to calc. orientation of twin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3C0449-FDD0-4E70-8120-3C6335F91573}"/>
              </a:ext>
            </a:extLst>
          </p:cNvPr>
          <p:cNvSpPr txBox="1"/>
          <p:nvPr/>
        </p:nvSpPr>
        <p:spPr>
          <a:xfrm>
            <a:off x="8338942" y="4774240"/>
            <a:ext cx="1633781" cy="830997"/>
          </a:xfrm>
          <a:prstGeom prst="rect">
            <a:avLst/>
          </a:prstGeom>
          <a:solidFill>
            <a:schemeClr val="bg1">
              <a:alpha val="5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G</a:t>
            </a:r>
          </a:p>
          <a:p>
            <a:pPr algn="ctr"/>
            <a:r>
              <a:rPr lang="en-US" sz="1600" b="1"/>
              <a:t>twinning shear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A66A6EB-9C19-40ED-AC66-D2D79D8BB519}"/>
              </a:ext>
            </a:extLst>
          </p:cNvPr>
          <p:cNvSpPr txBox="1">
            <a:spLocks/>
          </p:cNvSpPr>
          <p:nvPr/>
        </p:nvSpPr>
        <p:spPr>
          <a:xfrm>
            <a:off x="4102100" y="191753"/>
            <a:ext cx="3987800" cy="484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/>
              <a:t>fcct.pre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702EF4-78E6-4ACB-979A-76F27081F2A7}"/>
              </a:ext>
            </a:extLst>
          </p:cNvPr>
          <p:cNvSpPr/>
          <p:nvPr/>
        </p:nvSpPr>
        <p:spPr>
          <a:xfrm>
            <a:off x="1753644" y="1069613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EA323-ADF5-404D-9B2E-769EB947F64D}"/>
              </a:ext>
            </a:extLst>
          </p:cNvPr>
          <p:cNvSpPr/>
          <p:nvPr/>
        </p:nvSpPr>
        <p:spPr>
          <a:xfrm>
            <a:off x="1991247" y="1069613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B1C20-73E1-4571-B15C-86CB14AAB771}"/>
              </a:ext>
            </a:extLst>
          </p:cNvPr>
          <p:cNvSpPr/>
          <p:nvPr/>
        </p:nvSpPr>
        <p:spPr>
          <a:xfrm>
            <a:off x="2228850" y="1069613"/>
            <a:ext cx="1085850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8A9BB-CE8B-4983-B664-20910375F4F9}"/>
              </a:ext>
            </a:extLst>
          </p:cNvPr>
          <p:cNvSpPr txBox="1"/>
          <p:nvPr/>
        </p:nvSpPr>
        <p:spPr>
          <a:xfrm rot="16200000">
            <a:off x="1470751" y="322973"/>
            <a:ext cx="70243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/>
              <a:t>No of slip systems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25BF2-49F0-4704-80CC-22B4D36D4E76}"/>
              </a:ext>
            </a:extLst>
          </p:cNvPr>
          <p:cNvSpPr txBox="1"/>
          <p:nvPr/>
        </p:nvSpPr>
        <p:spPr>
          <a:xfrm rot="16200000">
            <a:off x="1714567" y="312601"/>
            <a:ext cx="72006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/>
              <a:t>No of twin systems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AC9C1D-2A49-46A3-AF7E-DCCE66B049DE}"/>
              </a:ext>
            </a:extLst>
          </p:cNvPr>
          <p:cNvSpPr txBox="1"/>
          <p:nvPr/>
        </p:nvSpPr>
        <p:spPr>
          <a:xfrm>
            <a:off x="2228850" y="468286"/>
            <a:ext cx="10118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/>
              <a:t>Initial guess of 5 independent</a:t>
            </a:r>
          </a:p>
          <a:p>
            <a:pPr algn="ctr"/>
            <a:r>
              <a:rPr lang="en-US" sz="500"/>
              <a:t>deformation systems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A4D147-7122-47F2-B04C-09E4FA571B4D}"/>
              </a:ext>
            </a:extLst>
          </p:cNvPr>
          <p:cNvSpPr txBox="1"/>
          <p:nvPr/>
        </p:nvSpPr>
        <p:spPr>
          <a:xfrm rot="16200000">
            <a:off x="1420992" y="467385"/>
            <a:ext cx="41069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/>
              <a:t>Counter</a:t>
            </a:r>
          </a:p>
        </p:txBody>
      </p:sp>
    </p:spTree>
    <p:extLst>
      <p:ext uri="{BB962C8B-B14F-4D97-AF65-F5344CB8AC3E}">
        <p14:creationId xmlns:p14="http://schemas.microsoft.com/office/powerpoint/2010/main" val="134851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6695C-CC02-4355-9D52-43093473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FB809-0C86-4278-AAB7-7CC68AD4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2</a:t>
            </a:fld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37739-325C-4B06-A3A9-71A1A8F9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775" y="1976437"/>
            <a:ext cx="4362450" cy="2905125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63E9CB9-BD4F-4638-979F-59B97B68E42B}"/>
              </a:ext>
            </a:extLst>
          </p:cNvPr>
          <p:cNvSpPr txBox="1">
            <a:spLocks/>
          </p:cNvSpPr>
          <p:nvPr/>
        </p:nvSpPr>
        <p:spPr>
          <a:xfrm>
            <a:off x="288099" y="191753"/>
            <a:ext cx="11615802" cy="484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/>
              <a:t>fcc.dat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7489C-F9D2-4216-9A04-1303D8C84E5E}"/>
              </a:ext>
            </a:extLst>
          </p:cNvPr>
          <p:cNvSpPr txBox="1"/>
          <p:nvPr/>
        </p:nvSpPr>
        <p:spPr>
          <a:xfrm>
            <a:off x="2789146" y="2192407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/>
              <a:t>description/title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5143E-CCE2-4D45-8A0F-1794162ACEF8}"/>
              </a:ext>
            </a:extLst>
          </p:cNvPr>
          <p:cNvSpPr/>
          <p:nvPr/>
        </p:nvSpPr>
        <p:spPr>
          <a:xfrm>
            <a:off x="4378291" y="2405085"/>
            <a:ext cx="1085850" cy="4607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26478-8D91-4622-ABE0-F7D996F52CF7}"/>
              </a:ext>
            </a:extLst>
          </p:cNvPr>
          <p:cNvSpPr/>
          <p:nvPr/>
        </p:nvSpPr>
        <p:spPr>
          <a:xfrm>
            <a:off x="4398554" y="2883923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AA529-C2E4-4FB6-86CD-EE16D50F8DB5}"/>
              </a:ext>
            </a:extLst>
          </p:cNvPr>
          <p:cNvSpPr/>
          <p:nvPr/>
        </p:nvSpPr>
        <p:spPr>
          <a:xfrm>
            <a:off x="4636157" y="2883923"/>
            <a:ext cx="128724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23765-E1EB-4657-B34B-A3AC444E882D}"/>
              </a:ext>
            </a:extLst>
          </p:cNvPr>
          <p:cNvSpPr txBox="1"/>
          <p:nvPr/>
        </p:nvSpPr>
        <p:spPr>
          <a:xfrm>
            <a:off x="5595675" y="2504672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unit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31D14-F8E6-40D6-9829-E07D4BE85BEF}"/>
              </a:ext>
            </a:extLst>
          </p:cNvPr>
          <p:cNvSpPr txBox="1"/>
          <p:nvPr/>
        </p:nvSpPr>
        <p:spPr>
          <a:xfrm>
            <a:off x="2548695" y="2815343"/>
            <a:ext cx="13660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slip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8F4233-27BC-4600-A3ED-BF5B4CD08D55}"/>
              </a:ext>
            </a:extLst>
          </p:cNvPr>
          <p:cNvSpPr txBox="1"/>
          <p:nvPr/>
        </p:nvSpPr>
        <p:spPr>
          <a:xfrm>
            <a:off x="5595675" y="2808993"/>
            <a:ext cx="1404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twin systems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56E8C4-1910-4439-92D0-164215A0477C}"/>
              </a:ext>
            </a:extLst>
          </p:cNvPr>
          <p:cNvSpPr/>
          <p:nvPr/>
        </p:nvSpPr>
        <p:spPr>
          <a:xfrm>
            <a:off x="4441653" y="3026426"/>
            <a:ext cx="617542" cy="1873189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9DB4C2-80BD-4C4A-88B2-DB32EA6C6655}"/>
              </a:ext>
            </a:extLst>
          </p:cNvPr>
          <p:cNvSpPr/>
          <p:nvPr/>
        </p:nvSpPr>
        <p:spPr>
          <a:xfrm>
            <a:off x="5103012" y="3017399"/>
            <a:ext cx="617542" cy="1873189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B49C7-8E3B-45B9-A1C9-3E88425BF837}"/>
              </a:ext>
            </a:extLst>
          </p:cNvPr>
          <p:cNvSpPr txBox="1"/>
          <p:nvPr/>
        </p:nvSpPr>
        <p:spPr>
          <a:xfrm>
            <a:off x="5927657" y="3610771"/>
            <a:ext cx="3861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Miller indices of deformation systems</a:t>
            </a:r>
          </a:p>
          <a:p>
            <a:pPr algn="ctr"/>
            <a:r>
              <a:rPr lang="en-US" sz="1600" b="1"/>
              <a:t>(one system per row)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8E1C31-302F-4F39-A25C-C7308A8C4A75}"/>
              </a:ext>
            </a:extLst>
          </p:cNvPr>
          <p:cNvSpPr txBox="1"/>
          <p:nvPr/>
        </p:nvSpPr>
        <p:spPr>
          <a:xfrm>
            <a:off x="4415270" y="3463909"/>
            <a:ext cx="720069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plane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FE452-16D8-44A3-AC15-F0C9CFCD5B13}"/>
              </a:ext>
            </a:extLst>
          </p:cNvPr>
          <p:cNvSpPr txBox="1"/>
          <p:nvPr/>
        </p:nvSpPr>
        <p:spPr>
          <a:xfrm>
            <a:off x="4875766" y="3953993"/>
            <a:ext cx="1051891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>
            <a:defPPr>
              <a:defRPr lang="nl-NL"/>
            </a:defPPr>
            <a:lvl1pPr algn="ctr">
              <a:defRPr sz="1600" b="1"/>
            </a:lvl1pPr>
          </a:lstStyle>
          <a:p>
            <a:r>
              <a:rPr lang="en-US"/>
              <a:t>direction</a:t>
            </a:r>
          </a:p>
        </p:txBody>
      </p:sp>
    </p:spTree>
    <p:extLst>
      <p:ext uri="{BB962C8B-B14F-4D97-AF65-F5344CB8AC3E}">
        <p14:creationId xmlns:p14="http://schemas.microsoft.com/office/powerpoint/2010/main" val="1146988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A3ADF6-FFA2-438A-B1F3-FD84EDDC0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661" y="209744"/>
            <a:ext cx="3861955" cy="573441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6695C-CC02-4355-9D52-43093473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Department of Materials Engineering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FB809-0C86-4278-AAB7-7CC68AD4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3</a:t>
            </a:fld>
            <a:endParaRPr lang="nl-NL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63E9CB9-BD4F-4638-979F-59B97B68E42B}"/>
              </a:ext>
            </a:extLst>
          </p:cNvPr>
          <p:cNvSpPr txBox="1">
            <a:spLocks/>
          </p:cNvSpPr>
          <p:nvPr/>
        </p:nvSpPr>
        <p:spPr>
          <a:xfrm>
            <a:off x="288099" y="191753"/>
            <a:ext cx="2260596" cy="4846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/>
              <a:t>fcct.dat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7489C-F9D2-4216-9A04-1303D8C84E5E}"/>
              </a:ext>
            </a:extLst>
          </p:cNvPr>
          <p:cNvSpPr txBox="1"/>
          <p:nvPr/>
        </p:nvSpPr>
        <p:spPr>
          <a:xfrm>
            <a:off x="3143556" y="372561"/>
            <a:ext cx="11256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/>
              <a:t>description/title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5143E-CCE2-4D45-8A0F-1794162ACEF8}"/>
              </a:ext>
            </a:extLst>
          </p:cNvPr>
          <p:cNvSpPr/>
          <p:nvPr/>
        </p:nvSpPr>
        <p:spPr>
          <a:xfrm>
            <a:off x="4764881" y="565664"/>
            <a:ext cx="2959894" cy="437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C26478-8D91-4622-ABE0-F7D996F52CF7}"/>
              </a:ext>
            </a:extLst>
          </p:cNvPr>
          <p:cNvSpPr/>
          <p:nvPr/>
        </p:nvSpPr>
        <p:spPr>
          <a:xfrm>
            <a:off x="4839724" y="987138"/>
            <a:ext cx="170406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0AA529-C2E4-4FB6-86CD-EE16D50F8DB5}"/>
              </a:ext>
            </a:extLst>
          </p:cNvPr>
          <p:cNvSpPr/>
          <p:nvPr/>
        </p:nvSpPr>
        <p:spPr>
          <a:xfrm>
            <a:off x="5077327" y="987138"/>
            <a:ext cx="128724" cy="124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623765-E1EB-4657-B34B-A3AC444E882D}"/>
              </a:ext>
            </a:extLst>
          </p:cNvPr>
          <p:cNvSpPr txBox="1"/>
          <p:nvPr/>
        </p:nvSpPr>
        <p:spPr>
          <a:xfrm>
            <a:off x="3635076" y="629669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unit cell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31D14-F8E6-40D6-9829-E07D4BE85BEF}"/>
              </a:ext>
            </a:extLst>
          </p:cNvPr>
          <p:cNvSpPr txBox="1"/>
          <p:nvPr/>
        </p:nvSpPr>
        <p:spPr>
          <a:xfrm>
            <a:off x="2994609" y="913838"/>
            <a:ext cx="13660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slip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8F4233-27BC-4600-A3ED-BF5B4CD08D55}"/>
              </a:ext>
            </a:extLst>
          </p:cNvPr>
          <p:cNvSpPr txBox="1"/>
          <p:nvPr/>
        </p:nvSpPr>
        <p:spPr>
          <a:xfrm>
            <a:off x="6083341" y="1012007"/>
            <a:ext cx="1404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>
                <a:solidFill>
                  <a:srgbClr val="FF0000"/>
                </a:solidFill>
              </a:rPr>
              <a:t>No. of twin systems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56E8C4-1910-4439-92D0-164215A0477C}"/>
              </a:ext>
            </a:extLst>
          </p:cNvPr>
          <p:cNvSpPr/>
          <p:nvPr/>
        </p:nvSpPr>
        <p:spPr>
          <a:xfrm>
            <a:off x="4839724" y="1139627"/>
            <a:ext cx="594176" cy="315292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9DB4C2-80BD-4C4A-88B2-DB32EA6C6655}"/>
              </a:ext>
            </a:extLst>
          </p:cNvPr>
          <p:cNvSpPr/>
          <p:nvPr/>
        </p:nvSpPr>
        <p:spPr>
          <a:xfrm>
            <a:off x="5465799" y="1139627"/>
            <a:ext cx="544693" cy="315292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B49C7-8E3B-45B9-A1C9-3E88425BF837}"/>
              </a:ext>
            </a:extLst>
          </p:cNvPr>
          <p:cNvSpPr txBox="1"/>
          <p:nvPr/>
        </p:nvSpPr>
        <p:spPr>
          <a:xfrm>
            <a:off x="6386438" y="2419119"/>
            <a:ext cx="38619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Miller indices of deformation systems</a:t>
            </a:r>
          </a:p>
          <a:p>
            <a:pPr algn="ctr"/>
            <a:r>
              <a:rPr lang="en-US" sz="1600" b="1"/>
              <a:t>(one system per row);</a:t>
            </a:r>
          </a:p>
          <a:p>
            <a:pPr algn="ctr"/>
            <a:r>
              <a:rPr lang="en-US" sz="1600" b="1"/>
              <a:t>slip systems first, then twin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8E1C31-302F-4F39-A25C-C7308A8C4A75}"/>
              </a:ext>
            </a:extLst>
          </p:cNvPr>
          <p:cNvSpPr txBox="1"/>
          <p:nvPr/>
        </p:nvSpPr>
        <p:spPr>
          <a:xfrm>
            <a:off x="4764881" y="2080565"/>
            <a:ext cx="720069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600" b="1"/>
              <a:t>plane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FE452-16D8-44A3-AC15-F0C9CFCD5B13}"/>
              </a:ext>
            </a:extLst>
          </p:cNvPr>
          <p:cNvSpPr txBox="1"/>
          <p:nvPr/>
        </p:nvSpPr>
        <p:spPr>
          <a:xfrm>
            <a:off x="5212199" y="1490199"/>
            <a:ext cx="1051891" cy="338554"/>
          </a:xfrm>
          <a:prstGeom prst="rect">
            <a:avLst/>
          </a:prstGeom>
          <a:solidFill>
            <a:schemeClr val="bg1">
              <a:alpha val="82000"/>
            </a:schemeClr>
          </a:solidFill>
        </p:spPr>
        <p:txBody>
          <a:bodyPr wrap="none" rtlCol="0">
            <a:spAutoFit/>
          </a:bodyPr>
          <a:lstStyle>
            <a:defPPr>
              <a:defRPr lang="nl-NL"/>
            </a:defPPr>
            <a:lvl1pPr algn="ctr">
              <a:defRPr sz="1600" b="1"/>
            </a:lvl1pPr>
          </a:lstStyle>
          <a:p>
            <a:r>
              <a:rPr lang="en-US"/>
              <a:t>direction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E16E61-7CE8-4B75-94FF-7A1739FC7517}"/>
              </a:ext>
            </a:extLst>
          </p:cNvPr>
          <p:cNvSpPr/>
          <p:nvPr/>
        </p:nvSpPr>
        <p:spPr>
          <a:xfrm>
            <a:off x="4805689" y="4320586"/>
            <a:ext cx="1227911" cy="1623576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6C23F6-ECEF-442D-9A97-FD4648F96346}"/>
              </a:ext>
            </a:extLst>
          </p:cNvPr>
          <p:cNvSpPr txBox="1"/>
          <p:nvPr/>
        </p:nvSpPr>
        <p:spPr>
          <a:xfrm>
            <a:off x="4602753" y="4666289"/>
            <a:ext cx="1633781" cy="830997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b="1"/>
              <a:t>G</a:t>
            </a:r>
          </a:p>
          <a:p>
            <a:pPr algn="ctr"/>
            <a:r>
              <a:rPr lang="en-US" sz="1600" b="1"/>
              <a:t>twinning shear</a:t>
            </a:r>
          </a:p>
        </p:txBody>
      </p:sp>
    </p:spTree>
    <p:extLst>
      <p:ext uri="{BB962C8B-B14F-4D97-AF65-F5344CB8AC3E}">
        <p14:creationId xmlns:p14="http://schemas.microsoft.com/office/powerpoint/2010/main" val="3664188602"/>
      </p:ext>
    </p:extLst>
  </p:cSld>
  <p:clrMapOvr>
    <a:masterClrMapping/>
  </p:clrMapOvr>
</p:sld>
</file>

<file path=ppt/theme/theme1.xml><?xml version="1.0" encoding="utf-8"?>
<a:theme xmlns:a="http://schemas.openxmlformats.org/drawingml/2006/main" name="KU Leuven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U Leuven Sedes">
  <a:themeElements>
    <a:clrScheme name="Custom 14">
      <a:dk1>
        <a:srgbClr val="2F4D5D"/>
      </a:dk1>
      <a:lt1>
        <a:srgbClr val="FFFFFF"/>
      </a:lt1>
      <a:dk2>
        <a:srgbClr val="1D8DB0"/>
      </a:dk2>
      <a:lt2>
        <a:srgbClr val="DCE7F0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U Leuven" id="{BC384CAF-57B4-4083-BC3D-22218BF4A46A}" vid="{75672E21-F18C-4958-94B8-19E54344552B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Leuven</Template>
  <TotalTime>0</TotalTime>
  <Words>194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KU Leuven</vt:lpstr>
      <vt:lpstr>KU Leuven Sedes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2017-09-13T11:47:32Z</dcterms:created>
  <dcterms:modified xsi:type="dcterms:W3CDTF">2021-01-15T21:39:28Z</dcterms:modified>
</cp:coreProperties>
</file>