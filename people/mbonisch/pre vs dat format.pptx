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  <p:sldMasterId id="2147483694" r:id="rId2"/>
  </p:sldMasterIdLst>
  <p:notesMasterIdLst>
    <p:notesMasterId r:id="rId7"/>
  </p:notesMasterIdLst>
  <p:handoutMasterIdLst>
    <p:handoutMasterId r:id="rId8"/>
  </p:handoutMasterIdLst>
  <p:sldIdLst>
    <p:sldId id="402" r:id="rId3"/>
    <p:sldId id="399" r:id="rId4"/>
    <p:sldId id="401" r:id="rId5"/>
    <p:sldId id="397" r:id="rId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CE7F0"/>
    <a:srgbClr val="2F4D5D"/>
    <a:srgbClr val="1D8DB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02" autoAdjust="0"/>
    <p:restoredTop sz="94652"/>
  </p:normalViewPr>
  <p:slideViewPr>
    <p:cSldViewPr snapToGrid="0" snapToObjects="1">
      <p:cViewPr>
        <p:scale>
          <a:sx n="100" d="100"/>
          <a:sy n="100" d="100"/>
        </p:scale>
        <p:origin x="774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58" d="100"/>
          <a:sy n="158" d="100"/>
        </p:scale>
        <p:origin x="42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>
              <a:latin typeface="Arial" panose="020B0604020202020204" pitchFamily="34" charset="0"/>
            </a:endParaRP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91CCF-F6FD-734B-854A-5BC033593B1E}" type="datetimeFigureOut">
              <a:rPr lang="nl-NL" smtClean="0">
                <a:latin typeface="Arial" panose="020B0604020202020204" pitchFamily="34" charset="0"/>
              </a:rPr>
              <a:t>16-2-2021</a:t>
            </a:fld>
            <a:endParaRPr lang="nl-NL">
              <a:latin typeface="Arial" panose="020B0604020202020204" pitchFamily="34" charset="0"/>
            </a:endParaRP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>
              <a:latin typeface="Arial" panose="020B0604020202020204" pitchFamily="34" charset="0"/>
            </a:endParaRP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>
                <a:latin typeface="Arial" panose="020B0604020202020204" pitchFamily="34" charset="0"/>
              </a:rPr>
              <a:t>‹#›</a:t>
            </a:fld>
            <a:endParaRPr lang="nl-NL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23C66214-DB21-4647-B5DA-0D17CA592867}" type="datetimeFigureOut">
              <a:rPr lang="nl-NL" smtClean="0"/>
              <a:pPr/>
              <a:t>16-2-2021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8954E32A-327F-AF4B-8E1F-209FBF93D26D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sp>
        <p:nvSpPr>
          <p:cNvPr id="10" name="Rechthoek 9"/>
          <p:cNvSpPr/>
          <p:nvPr userDrawn="1"/>
        </p:nvSpPr>
        <p:spPr>
          <a:xfrm>
            <a:off x="0" y="648000"/>
            <a:ext cx="12193200" cy="621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sp>
        <p:nvSpPr>
          <p:cNvPr id="8" name="Rechthoek 7"/>
          <p:cNvSpPr/>
          <p:nvPr userDrawn="1"/>
        </p:nvSpPr>
        <p:spPr>
          <a:xfrm>
            <a:off x="0" y="647998"/>
            <a:ext cx="12193200" cy="445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pic>
        <p:nvPicPr>
          <p:cNvPr id="9" name="Afbeelding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75999" y="1080000"/>
            <a:ext cx="6096524" cy="4024798"/>
          </a:xfrm>
        </p:spPr>
        <p:txBody>
          <a:bodyPr anchor="ctr" anchorCtr="0">
            <a:normAutofit/>
          </a:bodyPr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575999" y="5392801"/>
            <a:ext cx="6096524" cy="730188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248525" y="1654175"/>
            <a:ext cx="4368673" cy="44688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8617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4203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36D0-E188-499B-A063-E30C52BBA65B}" type="datetime1">
              <a:rPr lang="nl-BE" smtClean="0"/>
              <a:t>16/02/2021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524" cy="2386800"/>
          </a:xfrm>
        </p:spPr>
        <p:txBody>
          <a:bodyPr anchor="b"/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0969-739A-495B-9AC8-9E83DBD19472}" type="datetime1">
              <a:rPr lang="nl-BE" smtClean="0"/>
              <a:t>16/02/2021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2376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248262" y="3248513"/>
            <a:ext cx="4368673" cy="2376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420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264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3A32B-624A-4D19-87A0-E1B3FD383FFA}" type="datetime1">
              <a:rPr lang="nl-BE" smtClean="0"/>
              <a:t>16/02/2021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504031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 userDrawn="1">
          <p15:clr>
            <a:srgbClr val="FBAE40"/>
          </p15:clr>
        </p15:guide>
        <p15:guide id="2" pos="4203" userDrawn="1">
          <p15:clr>
            <a:srgbClr val="FBAE40"/>
          </p15:clr>
        </p15:guide>
        <p15:guide id="3" orient="horz" pos="36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776D5-6471-4EFF-BEAC-785903B7FED9}" type="datetime1">
              <a:rPr lang="nl-BE" smtClean="0"/>
              <a:t>16/02/2021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9" name="Tijdelijke aanduiding voor tekst 2"/>
          <p:cNvSpPr>
            <a:spLocks noGrp="1"/>
          </p:cNvSpPr>
          <p:nvPr>
            <p:ph idx="1"/>
          </p:nvPr>
        </p:nvSpPr>
        <p:spPr>
          <a:xfrm>
            <a:off x="576000" y="1656000"/>
            <a:ext cx="54000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217200" y="1656000"/>
            <a:ext cx="5400000" cy="4464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5958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5421575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76000" y="2276271"/>
            <a:ext cx="5421575" cy="38376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56000"/>
            <a:ext cx="5445000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276271"/>
            <a:ext cx="5445000" cy="38376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EAB7-456F-4852-B075-588A4BB01E68}" type="datetime1">
              <a:rPr lang="nl-BE" smtClean="0"/>
              <a:t>16/02/2021</a:t>
            </a:fld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8400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93D8-4D6A-4159-B2D6-5CAAABFF1A22}" type="datetime1">
              <a:rPr lang="nl-BE" smtClean="0"/>
              <a:t>16/02/2021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6631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1006A-A638-4A45-BEF9-2F5A607B99F5}" type="datetime1">
              <a:rPr lang="nl-BE" smtClean="0"/>
              <a:t>16/02/2021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772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Fin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/>
          <p:cNvSpPr/>
          <p:nvPr userDrawn="1"/>
        </p:nvSpPr>
        <p:spPr>
          <a:xfrm>
            <a:off x="0" y="0"/>
            <a:ext cx="12193200" cy="6209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9120" y="510988"/>
            <a:ext cx="11039793" cy="5184424"/>
          </a:xfrm>
        </p:spPr>
        <p:txBody>
          <a:bodyPr anchor="ctr" anchorCtr="0">
            <a:noAutofit/>
          </a:bodyPr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E52BB-B06C-4FE4-BEA7-7AF30AE8D9B1}" type="datetime1">
              <a:rPr lang="nl-BE" smtClean="0"/>
              <a:t>16/02/2021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sp>
        <p:nvSpPr>
          <p:cNvPr id="8" name="Rechthoek 7"/>
          <p:cNvSpPr/>
          <p:nvPr/>
        </p:nvSpPr>
        <p:spPr>
          <a:xfrm>
            <a:off x="0" y="647998"/>
            <a:ext cx="12193200" cy="6210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1350253"/>
            <a:ext cx="4648209" cy="5507747"/>
          </a:xfrm>
          <a:prstGeom prst="rect">
            <a:avLst/>
          </a:prstGeom>
        </p:spPr>
      </p:pic>
      <p:sp>
        <p:nvSpPr>
          <p:cNvPr id="12" name="Ondertitel 2"/>
          <p:cNvSpPr>
            <a:spLocks noGrp="1"/>
          </p:cNvSpPr>
          <p:nvPr>
            <p:ph type="subTitle" idx="1"/>
          </p:nvPr>
        </p:nvSpPr>
        <p:spPr>
          <a:xfrm>
            <a:off x="576003" y="4359604"/>
            <a:ext cx="8333999" cy="1655999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NL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6000" y="1800000"/>
            <a:ext cx="8334000" cy="2386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320380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17EB3-0723-4C33-A2DC-6917C9CA571A}" type="datetime1">
              <a:rPr lang="nl-BE" smtClean="0"/>
              <a:t>16/02/2021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 baseline="0">
                <a:solidFill>
                  <a:srgbClr val="1D8DB0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10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005E77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322770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819D0-E997-4D10-8966-002558C5432F}" type="datetime1">
              <a:rPr lang="nl-BE" smtClean="0"/>
              <a:t>16/02/2021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nl-NL" dirty="0"/>
              <a:t>Klik om de stijl te bewerken</a:t>
            </a:r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2F4D5D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27069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07036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90315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9EB15C0D-7927-40B6-88B8-DB26DAC0C328}" type="datetime1">
              <a:rPr lang="nl-BE" smtClean="0"/>
              <a:pPr/>
              <a:t>16/02/2021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2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/>
              <a:t>Department of Materials Engineering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61" r:id="rId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2" userDrawn="1">
          <p15:clr>
            <a:srgbClr val="F26B43"/>
          </p15:clr>
        </p15:guide>
        <p15:guide id="2" pos="7319" userDrawn="1">
          <p15:clr>
            <a:srgbClr val="F26B43"/>
          </p15:clr>
        </p15:guide>
        <p15:guide id="3" orient="horz" pos="3857" userDrawn="1">
          <p15:clr>
            <a:srgbClr val="F26B43"/>
          </p15:clr>
        </p15:guide>
        <p15:guide id="4" pos="36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16000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16C7DC62-5684-4D3E-A4B3-94058A773A6B}" type="datetime1">
              <a:rPr lang="nl-BE" smtClean="0"/>
              <a:pPr/>
              <a:t>16/02/2021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/>
              <a:t>Department of Materials Engineering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3252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53C9E9-5E1C-4816-AC6F-B7D6F68B2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D7D73C-47C4-43D0-AF04-48548DEE7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</a:t>
            </a:fld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A4C2D-9654-4F35-8F03-60BDFAEA9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911" y="960212"/>
            <a:ext cx="9777378" cy="49375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B321B1-9C21-4176-9384-34CBD895EA9D}"/>
              </a:ext>
            </a:extLst>
          </p:cNvPr>
          <p:cNvSpPr txBox="1"/>
          <p:nvPr/>
        </p:nvSpPr>
        <p:spPr>
          <a:xfrm>
            <a:off x="523817" y="881299"/>
            <a:ext cx="463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TITglij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3FB4BA-2C23-41A4-9C55-03CB03777A0F}"/>
              </a:ext>
            </a:extLst>
          </p:cNvPr>
          <p:cNvSpPr txBox="1"/>
          <p:nvPr/>
        </p:nvSpPr>
        <p:spPr>
          <a:xfrm>
            <a:off x="1646519" y="747843"/>
            <a:ext cx="21387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/>
              <a:t>NGL  NTW                      DI1                     X      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55F1E4-590F-4E44-90A2-B06EF668DDE2}"/>
              </a:ext>
            </a:extLst>
          </p:cNvPr>
          <p:cNvSpPr/>
          <p:nvPr/>
        </p:nvSpPr>
        <p:spPr>
          <a:xfrm>
            <a:off x="1753644" y="1189973"/>
            <a:ext cx="5636712" cy="273067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C238F6-62F0-47CF-B25F-682CFE263C7E}"/>
              </a:ext>
            </a:extLst>
          </p:cNvPr>
          <p:cNvSpPr txBox="1"/>
          <p:nvPr/>
        </p:nvSpPr>
        <p:spPr>
          <a:xfrm>
            <a:off x="3011782" y="2427843"/>
            <a:ext cx="2977098" cy="1077218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3200" b="1"/>
              <a:t>(A1)</a:t>
            </a:r>
            <a:r>
              <a:rPr lang="en-US" sz="3200" b="1" baseline="30000"/>
              <a:t>T</a:t>
            </a:r>
          </a:p>
          <a:p>
            <a:pPr algn="ctr"/>
            <a:r>
              <a:rPr lang="en-US" sz="1600" b="1"/>
              <a:t>symmetric part</a:t>
            </a:r>
          </a:p>
          <a:p>
            <a:pPr algn="ctr"/>
            <a:r>
              <a:rPr lang="en-US" sz="1600" b="1"/>
              <a:t>(5 independent components)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49268D-C894-412C-ACAE-11DA4395347E}"/>
              </a:ext>
            </a:extLst>
          </p:cNvPr>
          <p:cNvSpPr/>
          <p:nvPr/>
        </p:nvSpPr>
        <p:spPr>
          <a:xfrm>
            <a:off x="7440459" y="1179705"/>
            <a:ext cx="3376985" cy="273067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C7EE6C-085D-4295-A990-EDB439C7B503}"/>
              </a:ext>
            </a:extLst>
          </p:cNvPr>
          <p:cNvSpPr txBox="1"/>
          <p:nvPr/>
        </p:nvSpPr>
        <p:spPr>
          <a:xfrm>
            <a:off x="7681494" y="2415672"/>
            <a:ext cx="2988319" cy="1077218"/>
          </a:xfrm>
          <a:prstGeom prst="rect">
            <a:avLst/>
          </a:prstGeom>
          <a:solidFill>
            <a:schemeClr val="bg1"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3200" b="1"/>
              <a:t>(B1)</a:t>
            </a:r>
            <a:r>
              <a:rPr lang="en-US" sz="3200" b="1" baseline="30000"/>
              <a:t>T</a:t>
            </a:r>
          </a:p>
          <a:p>
            <a:pPr algn="ctr"/>
            <a:r>
              <a:rPr lang="en-US" sz="1600" b="1"/>
              <a:t>anti-symmetric part</a:t>
            </a:r>
          </a:p>
          <a:p>
            <a:pPr algn="ctr"/>
            <a:r>
              <a:rPr lang="en-US" sz="1600" b="1"/>
              <a:t>(3 independent components)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D0CCA9-5882-4BEF-9229-9068E9644F5A}"/>
              </a:ext>
            </a:extLst>
          </p:cNvPr>
          <p:cNvSpPr/>
          <p:nvPr/>
        </p:nvSpPr>
        <p:spPr>
          <a:xfrm>
            <a:off x="1753644" y="3948479"/>
            <a:ext cx="6501356" cy="534621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D501F9-8482-43FE-9C00-1C37136ECC33}"/>
              </a:ext>
            </a:extLst>
          </p:cNvPr>
          <p:cNvSpPr/>
          <p:nvPr/>
        </p:nvSpPr>
        <p:spPr>
          <a:xfrm>
            <a:off x="1753644" y="4531946"/>
            <a:ext cx="6793456" cy="1316718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3EEE7C-63E1-42C5-8B02-7A4A9DE6C7F1}"/>
              </a:ext>
            </a:extLst>
          </p:cNvPr>
          <p:cNvSpPr/>
          <p:nvPr/>
        </p:nvSpPr>
        <p:spPr>
          <a:xfrm>
            <a:off x="8636000" y="4519246"/>
            <a:ext cx="1069810" cy="1316718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3C0449-FDD0-4E70-8120-3C6335F91573}"/>
              </a:ext>
            </a:extLst>
          </p:cNvPr>
          <p:cNvSpPr txBox="1"/>
          <p:nvPr/>
        </p:nvSpPr>
        <p:spPr>
          <a:xfrm>
            <a:off x="8338942" y="4774240"/>
            <a:ext cx="1633781" cy="830997"/>
          </a:xfrm>
          <a:prstGeom prst="rect">
            <a:avLst/>
          </a:prstGeom>
          <a:solidFill>
            <a:schemeClr val="bg1">
              <a:alpha val="52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3200" b="1"/>
              <a:t>G</a:t>
            </a:r>
          </a:p>
          <a:p>
            <a:pPr algn="ctr"/>
            <a:r>
              <a:rPr lang="en-US" sz="1600" b="1"/>
              <a:t>twinning shear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A66A6EB-9C19-40ED-AC66-D2D79D8BB519}"/>
              </a:ext>
            </a:extLst>
          </p:cNvPr>
          <p:cNvSpPr txBox="1">
            <a:spLocks/>
          </p:cNvSpPr>
          <p:nvPr/>
        </p:nvSpPr>
        <p:spPr>
          <a:xfrm>
            <a:off x="4102100" y="191753"/>
            <a:ext cx="3987800" cy="4846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/>
              <a:t>fcct.pre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702EF4-78E6-4ACB-979A-76F27081F2A7}"/>
              </a:ext>
            </a:extLst>
          </p:cNvPr>
          <p:cNvSpPr/>
          <p:nvPr/>
        </p:nvSpPr>
        <p:spPr>
          <a:xfrm>
            <a:off x="1753644" y="1069613"/>
            <a:ext cx="170406" cy="124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9EA323-ADF5-404D-9B2E-769EB947F64D}"/>
              </a:ext>
            </a:extLst>
          </p:cNvPr>
          <p:cNvSpPr/>
          <p:nvPr/>
        </p:nvSpPr>
        <p:spPr>
          <a:xfrm>
            <a:off x="1991247" y="1069613"/>
            <a:ext cx="170406" cy="124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B1C20-73E1-4571-B15C-86CB14AAB771}"/>
              </a:ext>
            </a:extLst>
          </p:cNvPr>
          <p:cNvSpPr/>
          <p:nvPr/>
        </p:nvSpPr>
        <p:spPr>
          <a:xfrm>
            <a:off x="2228850" y="1069613"/>
            <a:ext cx="1085850" cy="124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E8A9BB-CE8B-4983-B664-20910375F4F9}"/>
              </a:ext>
            </a:extLst>
          </p:cNvPr>
          <p:cNvSpPr txBox="1"/>
          <p:nvPr/>
        </p:nvSpPr>
        <p:spPr>
          <a:xfrm rot="16200000">
            <a:off x="1470751" y="322973"/>
            <a:ext cx="70243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/>
              <a:t>No of slip systems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A25BF2-49F0-4704-80CC-22B4D36D4E76}"/>
              </a:ext>
            </a:extLst>
          </p:cNvPr>
          <p:cNvSpPr txBox="1"/>
          <p:nvPr/>
        </p:nvSpPr>
        <p:spPr>
          <a:xfrm rot="16200000">
            <a:off x="1714567" y="312601"/>
            <a:ext cx="72006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/>
              <a:t>No of twin systems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AC9C1D-2A49-46A3-AF7E-DCCE66B049DE}"/>
              </a:ext>
            </a:extLst>
          </p:cNvPr>
          <p:cNvSpPr txBox="1"/>
          <p:nvPr/>
        </p:nvSpPr>
        <p:spPr>
          <a:xfrm>
            <a:off x="2228850" y="468286"/>
            <a:ext cx="10118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/>
              <a:t>Initial guess of 5 independent</a:t>
            </a:r>
          </a:p>
          <a:p>
            <a:pPr algn="ctr"/>
            <a:r>
              <a:rPr lang="en-US" sz="500"/>
              <a:t>deformation systems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A4D147-7122-47F2-B04C-09E4FA571B4D}"/>
              </a:ext>
            </a:extLst>
          </p:cNvPr>
          <p:cNvSpPr txBox="1"/>
          <p:nvPr/>
        </p:nvSpPr>
        <p:spPr>
          <a:xfrm rot="16200000">
            <a:off x="1420992" y="467385"/>
            <a:ext cx="41069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/>
              <a:t>Counter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30775D-E910-4C0A-A7AA-A45630B31081}"/>
              </a:ext>
            </a:extLst>
          </p:cNvPr>
          <p:cNvSpPr txBox="1"/>
          <p:nvPr/>
        </p:nvSpPr>
        <p:spPr>
          <a:xfrm>
            <a:off x="4500331" y="1162141"/>
            <a:ext cx="5105885" cy="1077218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/>
              <a:t>each row is vector-formatted</a:t>
            </a:r>
          </a:p>
          <a:p>
            <a:pPr algn="ctr"/>
            <a:r>
              <a:rPr lang="en-US" sz="1600" b="1"/>
              <a:t>symmetric &amp; antisymmetric part of Schmid tensor </a:t>
            </a:r>
          </a:p>
          <a:p>
            <a:pPr algn="ctr"/>
            <a:r>
              <a:rPr lang="en-US" sz="1600" b="1"/>
              <a:t>(i.e. of normalized velocity gradient);</a:t>
            </a:r>
          </a:p>
          <a:p>
            <a:pPr algn="ctr"/>
            <a:r>
              <a:rPr lang="en-US" sz="1600" b="1"/>
              <a:t>all deformation systems: first slips, then twins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174075-F7CD-406A-BE02-52E13571FA5B}"/>
              </a:ext>
            </a:extLst>
          </p:cNvPr>
          <p:cNvSpPr txBox="1"/>
          <p:nvPr/>
        </p:nvSpPr>
        <p:spPr>
          <a:xfrm>
            <a:off x="8570151" y="102311"/>
            <a:ext cx="36218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See subroutine pancak2 and module altayDeformationMechanism for how</a:t>
            </a:r>
          </a:p>
          <a:p>
            <a:r>
              <a:rPr lang="en-US" sz="1400"/>
              <a:t>these matrices are created and used!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4411C1-B464-4558-8144-E587CD0B3FE5}"/>
              </a:ext>
            </a:extLst>
          </p:cNvPr>
          <p:cNvSpPr txBox="1"/>
          <p:nvPr/>
        </p:nvSpPr>
        <p:spPr>
          <a:xfrm>
            <a:off x="2485841" y="3651638"/>
            <a:ext cx="5195653" cy="1077218"/>
          </a:xfrm>
          <a:prstGeom prst="rect">
            <a:avLst/>
          </a:prstGeom>
          <a:solidFill>
            <a:schemeClr val="bg1">
              <a:alpha val="52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3200" b="1"/>
              <a:t>(B)</a:t>
            </a:r>
            <a:r>
              <a:rPr lang="en-US" sz="3200" b="1" baseline="30000"/>
              <a:t>T</a:t>
            </a:r>
            <a:r>
              <a:rPr lang="en-US" sz="3200" b="1"/>
              <a:t> </a:t>
            </a:r>
          </a:p>
          <a:p>
            <a:pPr algn="ctr"/>
            <a:r>
              <a:rPr lang="en-US" sz="1600" b="1"/>
              <a:t>inverse of the sub-matrix of A1</a:t>
            </a:r>
          </a:p>
          <a:p>
            <a:pPr algn="ctr"/>
            <a:r>
              <a:rPr lang="en-US" sz="1600" b="1"/>
              <a:t>consisting of the initial guess deformation systems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3155F7-461D-4B6A-8109-725A4911ADEC}"/>
              </a:ext>
            </a:extLst>
          </p:cNvPr>
          <p:cNvSpPr txBox="1"/>
          <p:nvPr/>
        </p:nvSpPr>
        <p:spPr>
          <a:xfrm>
            <a:off x="2318647" y="4872301"/>
            <a:ext cx="5379382" cy="1508105"/>
          </a:xfrm>
          <a:prstGeom prst="rect">
            <a:avLst/>
          </a:prstGeom>
          <a:solidFill>
            <a:schemeClr val="bg1">
              <a:alpha val="52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(B2)</a:t>
            </a:r>
            <a:r>
              <a:rPr lang="en-US" sz="3200" b="1" baseline="30000"/>
              <a:t>T</a:t>
            </a:r>
          </a:p>
          <a:p>
            <a:pPr algn="ctr"/>
            <a:r>
              <a:rPr lang="en-US" sz="1600" b="1"/>
              <a:t>each row is matrix to calc. orientation of twin</a:t>
            </a:r>
          </a:p>
          <a:p>
            <a:pPr algn="ctr"/>
            <a:r>
              <a:rPr lang="en-US" sz="1100"/>
              <a:t>(see subroutine DeformationMechanismData_completeFromDATformat in module altayDeformationMechanism for its definition and Gil Sevillano et al, Progr.Mater.Sci 25 (1980) pp. 69-412, p297 for derivation)</a:t>
            </a:r>
          </a:p>
          <a:p>
            <a:pPr algn="ctr"/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858658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F06695C-CC02-4355-9D52-43093473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FB809-0C86-4278-AAB7-7CC68AD4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2</a:t>
            </a:fld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337739-325C-4B06-A3A9-71A1A8F95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775" y="1976437"/>
            <a:ext cx="4362450" cy="2905125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63E9CB9-BD4F-4638-979F-59B97B68E42B}"/>
              </a:ext>
            </a:extLst>
          </p:cNvPr>
          <p:cNvSpPr txBox="1">
            <a:spLocks/>
          </p:cNvSpPr>
          <p:nvPr/>
        </p:nvSpPr>
        <p:spPr>
          <a:xfrm>
            <a:off x="288099" y="191753"/>
            <a:ext cx="11615802" cy="4846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/>
              <a:t>fcc.dat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B7489C-F9D2-4216-9A04-1303D8C84E5E}"/>
              </a:ext>
            </a:extLst>
          </p:cNvPr>
          <p:cNvSpPr txBox="1"/>
          <p:nvPr/>
        </p:nvSpPr>
        <p:spPr>
          <a:xfrm>
            <a:off x="2789146" y="2192407"/>
            <a:ext cx="11256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/>
              <a:t>description/title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65143E-CCE2-4D45-8A0F-1794162ACEF8}"/>
              </a:ext>
            </a:extLst>
          </p:cNvPr>
          <p:cNvSpPr/>
          <p:nvPr/>
        </p:nvSpPr>
        <p:spPr>
          <a:xfrm>
            <a:off x="4378291" y="2405085"/>
            <a:ext cx="1085850" cy="4607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C26478-8D91-4622-ABE0-F7D996F52CF7}"/>
              </a:ext>
            </a:extLst>
          </p:cNvPr>
          <p:cNvSpPr/>
          <p:nvPr/>
        </p:nvSpPr>
        <p:spPr>
          <a:xfrm>
            <a:off x="4398554" y="2883923"/>
            <a:ext cx="170406" cy="124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0AA529-C2E4-4FB6-86CD-EE16D50F8DB5}"/>
              </a:ext>
            </a:extLst>
          </p:cNvPr>
          <p:cNvSpPr/>
          <p:nvPr/>
        </p:nvSpPr>
        <p:spPr>
          <a:xfrm>
            <a:off x="4636157" y="2883923"/>
            <a:ext cx="128724" cy="124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623765-E1EB-4657-B34B-A3AC444E882D}"/>
              </a:ext>
            </a:extLst>
          </p:cNvPr>
          <p:cNvSpPr txBox="1"/>
          <p:nvPr/>
        </p:nvSpPr>
        <p:spPr>
          <a:xfrm>
            <a:off x="5595675" y="2504672"/>
            <a:ext cx="6639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</a:rPr>
              <a:t>unit cell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D31D14-F8E6-40D6-9829-E07D4BE85BEF}"/>
              </a:ext>
            </a:extLst>
          </p:cNvPr>
          <p:cNvSpPr txBox="1"/>
          <p:nvPr/>
        </p:nvSpPr>
        <p:spPr>
          <a:xfrm>
            <a:off x="2548695" y="2815343"/>
            <a:ext cx="13660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</a:rPr>
              <a:t>No. of slip systems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8F4233-27BC-4600-A3ED-BF5B4CD08D55}"/>
              </a:ext>
            </a:extLst>
          </p:cNvPr>
          <p:cNvSpPr txBox="1"/>
          <p:nvPr/>
        </p:nvSpPr>
        <p:spPr>
          <a:xfrm>
            <a:off x="5595675" y="2808993"/>
            <a:ext cx="14045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</a:rPr>
              <a:t>No. of twin systems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56E8C4-1910-4439-92D0-164215A0477C}"/>
              </a:ext>
            </a:extLst>
          </p:cNvPr>
          <p:cNvSpPr/>
          <p:nvPr/>
        </p:nvSpPr>
        <p:spPr>
          <a:xfrm>
            <a:off x="4441653" y="3026426"/>
            <a:ext cx="617542" cy="1873189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9DB4C2-80BD-4C4A-88B2-DB32EA6C6655}"/>
              </a:ext>
            </a:extLst>
          </p:cNvPr>
          <p:cNvSpPr/>
          <p:nvPr/>
        </p:nvSpPr>
        <p:spPr>
          <a:xfrm>
            <a:off x="5103012" y="3017399"/>
            <a:ext cx="617542" cy="1873189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CB49C7-8E3B-45B9-A1C9-3E88425BF837}"/>
              </a:ext>
            </a:extLst>
          </p:cNvPr>
          <p:cNvSpPr txBox="1"/>
          <p:nvPr/>
        </p:nvSpPr>
        <p:spPr>
          <a:xfrm>
            <a:off x="5927657" y="3610771"/>
            <a:ext cx="38619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/>
              <a:t>Miller indices of deformation systems</a:t>
            </a:r>
          </a:p>
          <a:p>
            <a:pPr algn="ctr"/>
            <a:r>
              <a:rPr lang="en-US" sz="1600" b="1"/>
              <a:t>(one system per row)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8E1C31-302F-4F39-A25C-C7308A8C4A75}"/>
              </a:ext>
            </a:extLst>
          </p:cNvPr>
          <p:cNvSpPr txBox="1"/>
          <p:nvPr/>
        </p:nvSpPr>
        <p:spPr>
          <a:xfrm>
            <a:off x="4415270" y="3463909"/>
            <a:ext cx="720069" cy="338554"/>
          </a:xfrm>
          <a:prstGeom prst="rect">
            <a:avLst/>
          </a:prstGeom>
          <a:solidFill>
            <a:schemeClr val="bg1">
              <a:alpha val="82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/>
              <a:t>plane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CFE452-16D8-44A3-AC15-F0C9CFCD5B13}"/>
              </a:ext>
            </a:extLst>
          </p:cNvPr>
          <p:cNvSpPr txBox="1"/>
          <p:nvPr/>
        </p:nvSpPr>
        <p:spPr>
          <a:xfrm>
            <a:off x="4875766" y="3953993"/>
            <a:ext cx="1051891" cy="338554"/>
          </a:xfrm>
          <a:prstGeom prst="rect">
            <a:avLst/>
          </a:prstGeom>
          <a:solidFill>
            <a:schemeClr val="bg1">
              <a:alpha val="82000"/>
            </a:schemeClr>
          </a:solidFill>
        </p:spPr>
        <p:txBody>
          <a:bodyPr wrap="none" rtlCol="0">
            <a:spAutoFit/>
          </a:bodyPr>
          <a:lstStyle>
            <a:defPPr>
              <a:defRPr lang="nl-NL"/>
            </a:defPPr>
            <a:lvl1pPr algn="ctr">
              <a:defRPr sz="1600" b="1"/>
            </a:lvl1pPr>
          </a:lstStyle>
          <a:p>
            <a:r>
              <a:rPr lang="en-US"/>
              <a:t>direction</a:t>
            </a:r>
          </a:p>
        </p:txBody>
      </p:sp>
    </p:spTree>
    <p:extLst>
      <p:ext uri="{BB962C8B-B14F-4D97-AF65-F5344CB8AC3E}">
        <p14:creationId xmlns:p14="http://schemas.microsoft.com/office/powerpoint/2010/main" val="1146988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1A3ADF6-FFA2-438A-B1F3-FD84EDDC0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661" y="209744"/>
            <a:ext cx="3861955" cy="573441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F06695C-CC02-4355-9D52-43093473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FB809-0C86-4278-AAB7-7CC68AD4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3</a:t>
            </a:fld>
            <a:endParaRPr lang="nl-NL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63E9CB9-BD4F-4638-979F-59B97B68E42B}"/>
              </a:ext>
            </a:extLst>
          </p:cNvPr>
          <p:cNvSpPr txBox="1">
            <a:spLocks/>
          </p:cNvSpPr>
          <p:nvPr/>
        </p:nvSpPr>
        <p:spPr>
          <a:xfrm>
            <a:off x="288099" y="191753"/>
            <a:ext cx="2260596" cy="4846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/>
              <a:t>fcct.dat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B7489C-F9D2-4216-9A04-1303D8C84E5E}"/>
              </a:ext>
            </a:extLst>
          </p:cNvPr>
          <p:cNvSpPr txBox="1"/>
          <p:nvPr/>
        </p:nvSpPr>
        <p:spPr>
          <a:xfrm>
            <a:off x="3143556" y="372561"/>
            <a:ext cx="11256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/>
              <a:t>description/title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65143E-CCE2-4D45-8A0F-1794162ACEF8}"/>
              </a:ext>
            </a:extLst>
          </p:cNvPr>
          <p:cNvSpPr/>
          <p:nvPr/>
        </p:nvSpPr>
        <p:spPr>
          <a:xfrm>
            <a:off x="4764881" y="565664"/>
            <a:ext cx="2959894" cy="4372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C26478-8D91-4622-ABE0-F7D996F52CF7}"/>
              </a:ext>
            </a:extLst>
          </p:cNvPr>
          <p:cNvSpPr/>
          <p:nvPr/>
        </p:nvSpPr>
        <p:spPr>
          <a:xfrm>
            <a:off x="4839724" y="987138"/>
            <a:ext cx="170406" cy="124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0AA529-C2E4-4FB6-86CD-EE16D50F8DB5}"/>
              </a:ext>
            </a:extLst>
          </p:cNvPr>
          <p:cNvSpPr/>
          <p:nvPr/>
        </p:nvSpPr>
        <p:spPr>
          <a:xfrm>
            <a:off x="5077327" y="987138"/>
            <a:ext cx="128724" cy="124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623765-E1EB-4657-B34B-A3AC444E882D}"/>
              </a:ext>
            </a:extLst>
          </p:cNvPr>
          <p:cNvSpPr txBox="1"/>
          <p:nvPr/>
        </p:nvSpPr>
        <p:spPr>
          <a:xfrm>
            <a:off x="3635076" y="629669"/>
            <a:ext cx="6639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</a:rPr>
              <a:t>unit cell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D31D14-F8E6-40D6-9829-E07D4BE85BEF}"/>
              </a:ext>
            </a:extLst>
          </p:cNvPr>
          <p:cNvSpPr txBox="1"/>
          <p:nvPr/>
        </p:nvSpPr>
        <p:spPr>
          <a:xfrm>
            <a:off x="2994609" y="913838"/>
            <a:ext cx="13660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</a:rPr>
              <a:t>No. of slip systems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8F4233-27BC-4600-A3ED-BF5B4CD08D55}"/>
              </a:ext>
            </a:extLst>
          </p:cNvPr>
          <p:cNvSpPr txBox="1"/>
          <p:nvPr/>
        </p:nvSpPr>
        <p:spPr>
          <a:xfrm>
            <a:off x="6083341" y="1012007"/>
            <a:ext cx="14045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</a:rPr>
              <a:t>No. of twin systems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56E8C4-1910-4439-92D0-164215A0477C}"/>
              </a:ext>
            </a:extLst>
          </p:cNvPr>
          <p:cNvSpPr/>
          <p:nvPr/>
        </p:nvSpPr>
        <p:spPr>
          <a:xfrm>
            <a:off x="4839724" y="1139627"/>
            <a:ext cx="594176" cy="315292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9DB4C2-80BD-4C4A-88B2-DB32EA6C6655}"/>
              </a:ext>
            </a:extLst>
          </p:cNvPr>
          <p:cNvSpPr/>
          <p:nvPr/>
        </p:nvSpPr>
        <p:spPr>
          <a:xfrm>
            <a:off x="5465799" y="1139627"/>
            <a:ext cx="544693" cy="315292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CB49C7-8E3B-45B9-A1C9-3E88425BF837}"/>
              </a:ext>
            </a:extLst>
          </p:cNvPr>
          <p:cNvSpPr txBox="1"/>
          <p:nvPr/>
        </p:nvSpPr>
        <p:spPr>
          <a:xfrm>
            <a:off x="6386438" y="2419119"/>
            <a:ext cx="38619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/>
              <a:t>Miller indices of deformation systems</a:t>
            </a:r>
          </a:p>
          <a:p>
            <a:pPr algn="ctr"/>
            <a:r>
              <a:rPr lang="en-US" sz="1600" b="1"/>
              <a:t>(one system per row);</a:t>
            </a:r>
          </a:p>
          <a:p>
            <a:pPr algn="ctr"/>
            <a:r>
              <a:rPr lang="en-US" sz="1600" b="1"/>
              <a:t>slip systems first, then twin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8E1C31-302F-4F39-A25C-C7308A8C4A75}"/>
              </a:ext>
            </a:extLst>
          </p:cNvPr>
          <p:cNvSpPr txBox="1"/>
          <p:nvPr/>
        </p:nvSpPr>
        <p:spPr>
          <a:xfrm>
            <a:off x="4764881" y="2080565"/>
            <a:ext cx="720069" cy="338554"/>
          </a:xfrm>
          <a:prstGeom prst="rect">
            <a:avLst/>
          </a:prstGeom>
          <a:solidFill>
            <a:schemeClr val="bg1">
              <a:alpha val="82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/>
              <a:t>plane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CFE452-16D8-44A3-AC15-F0C9CFCD5B13}"/>
              </a:ext>
            </a:extLst>
          </p:cNvPr>
          <p:cNvSpPr txBox="1"/>
          <p:nvPr/>
        </p:nvSpPr>
        <p:spPr>
          <a:xfrm>
            <a:off x="5212199" y="1490199"/>
            <a:ext cx="1051891" cy="338554"/>
          </a:xfrm>
          <a:prstGeom prst="rect">
            <a:avLst/>
          </a:prstGeom>
          <a:solidFill>
            <a:schemeClr val="bg1">
              <a:alpha val="82000"/>
            </a:schemeClr>
          </a:solidFill>
        </p:spPr>
        <p:txBody>
          <a:bodyPr wrap="none" rtlCol="0">
            <a:spAutoFit/>
          </a:bodyPr>
          <a:lstStyle>
            <a:defPPr>
              <a:defRPr lang="nl-NL"/>
            </a:defPPr>
            <a:lvl1pPr algn="ctr">
              <a:defRPr sz="1600" b="1"/>
            </a:lvl1pPr>
          </a:lstStyle>
          <a:p>
            <a:r>
              <a:rPr lang="en-US"/>
              <a:t>direction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E16E61-7CE8-4B75-94FF-7A1739FC7517}"/>
              </a:ext>
            </a:extLst>
          </p:cNvPr>
          <p:cNvSpPr/>
          <p:nvPr/>
        </p:nvSpPr>
        <p:spPr>
          <a:xfrm>
            <a:off x="4805689" y="4320586"/>
            <a:ext cx="1227911" cy="1623576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6C23F6-ECEF-442D-9A97-FD4648F96346}"/>
              </a:ext>
            </a:extLst>
          </p:cNvPr>
          <p:cNvSpPr txBox="1"/>
          <p:nvPr/>
        </p:nvSpPr>
        <p:spPr>
          <a:xfrm>
            <a:off x="4602753" y="4666289"/>
            <a:ext cx="1633781" cy="830997"/>
          </a:xfrm>
          <a:prstGeom prst="rect">
            <a:avLst/>
          </a:prstGeom>
          <a:solidFill>
            <a:schemeClr val="bg1">
              <a:alpha val="6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3200" b="1"/>
              <a:t>G</a:t>
            </a:r>
          </a:p>
          <a:p>
            <a:pPr algn="ctr"/>
            <a:r>
              <a:rPr lang="en-US" sz="1600" b="1"/>
              <a:t>twinning shear</a:t>
            </a:r>
          </a:p>
        </p:txBody>
      </p:sp>
    </p:spTree>
    <p:extLst>
      <p:ext uri="{BB962C8B-B14F-4D97-AF65-F5344CB8AC3E}">
        <p14:creationId xmlns:p14="http://schemas.microsoft.com/office/powerpoint/2010/main" val="3664188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AEA833-36BA-45FE-8867-9CBB9564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909418-09D7-43A9-9DC3-D7A2610B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4</a:t>
            </a:fld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8B998-CFCF-4BF2-9B3E-082C73C22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00" y="474662"/>
            <a:ext cx="5743575" cy="371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BD0B7C-938F-488E-B34C-7772F41C2841}"/>
              </a:ext>
            </a:extLst>
          </p:cNvPr>
          <p:cNvSpPr txBox="1"/>
          <p:nvPr/>
        </p:nvSpPr>
        <p:spPr>
          <a:xfrm>
            <a:off x="6457776" y="446900"/>
            <a:ext cx="33245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grain (lamel) index in cluster (1,2 for ALAMEL)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72CF09-91CD-4EFE-BA20-79EC1A2DB28B}"/>
              </a:ext>
            </a:extLst>
          </p:cNvPr>
          <p:cNvSpPr txBox="1"/>
          <p:nvPr/>
        </p:nvSpPr>
        <p:spPr>
          <a:xfrm>
            <a:off x="6457776" y="635038"/>
            <a:ext cx="3454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no of grains (lamels) in cluster (2 for ALAMEL)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09F8B3-B26B-4F9B-9453-A381E48D6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00" y="889256"/>
            <a:ext cx="5829300" cy="14001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A0F76-FDCC-478E-9B6A-F3C40B0DB0A1}"/>
              </a:ext>
            </a:extLst>
          </p:cNvPr>
          <p:cNvSpPr txBox="1"/>
          <p:nvPr/>
        </p:nvSpPr>
        <p:spPr>
          <a:xfrm>
            <a:off x="6457776" y="889256"/>
            <a:ext cx="424026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determine total number of deformation systems, store in M2</a:t>
            </a:r>
          </a:p>
          <a:p>
            <a:r>
              <a:rPr lang="en-US" sz="1200"/>
              <a:t>case 1: Taylor</a:t>
            </a:r>
          </a:p>
          <a:p>
            <a:r>
              <a:rPr lang="en-US" sz="1200"/>
              <a:t>case 2: ALAMEL</a:t>
            </a:r>
          </a:p>
          <a:p>
            <a:endParaRPr lang="en-US" sz="1200"/>
          </a:p>
          <a:p>
            <a:endParaRPr lang="en-US" sz="1200"/>
          </a:p>
          <a:p>
            <a:r>
              <a:rPr lang="en-US" sz="1200"/>
              <a:t>2 relaxations on each boundary</a:t>
            </a:r>
          </a:p>
          <a:p>
            <a:r>
              <a:rPr lang="en-US" sz="1200"/>
              <a:t>M12…total number of def. systems + relaxations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6A0A49B-97E4-406E-9243-856666AF0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761" y="2296812"/>
            <a:ext cx="7839075" cy="37909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079E228-B8B0-4521-90D2-68D24C354E39}"/>
              </a:ext>
            </a:extLst>
          </p:cNvPr>
          <p:cNvSpPr txBox="1"/>
          <p:nvPr/>
        </p:nvSpPr>
        <p:spPr>
          <a:xfrm>
            <a:off x="8184948" y="2257989"/>
            <a:ext cx="1576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do only for 1st grain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B03883-FA2C-4145-9045-3658F5EE00D3}"/>
              </a:ext>
            </a:extLst>
          </p:cNvPr>
          <p:cNvSpPr/>
          <p:nvPr/>
        </p:nvSpPr>
        <p:spPr>
          <a:xfrm>
            <a:off x="1387929" y="2495058"/>
            <a:ext cx="5396592" cy="6808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7C728D-8DC0-48E7-B888-C49D732BFC06}"/>
              </a:ext>
            </a:extLst>
          </p:cNvPr>
          <p:cNvSpPr txBox="1"/>
          <p:nvPr/>
        </p:nvSpPr>
        <p:spPr>
          <a:xfrm>
            <a:off x="6934478" y="2657226"/>
            <a:ext cx="3286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see Van Houtte, Microstructures and Texture, 1988, Vols. 8 &amp; 9, pp. 313-350, eq. 29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CC2C7C-B654-4266-80E4-B12895CCF632}"/>
                  </a:ext>
                </a:extLst>
              </p:cNvPr>
              <p:cNvSpPr txBox="1"/>
              <p:nvPr/>
            </p:nvSpPr>
            <p:spPr>
              <a:xfrm>
                <a:off x="8160783" y="3742654"/>
                <a:ext cx="2795830" cy="5195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𝑅𝐿𝑋𝑔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𝐴𝑔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𝑅𝐿𝑋𝑔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CC2C7C-B654-4266-80E4-B12895CCF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0783" y="3742654"/>
                <a:ext cx="2795830" cy="519566"/>
              </a:xfrm>
              <a:prstGeom prst="rect">
                <a:avLst/>
              </a:prstGeom>
              <a:blipFill>
                <a:blip r:embed="rId5"/>
                <a:stretch>
                  <a:fillRect b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66E912D-F153-43BC-A1AB-19D0DD594B09}"/>
              </a:ext>
            </a:extLst>
          </p:cNvPr>
          <p:cNvSpPr txBox="1"/>
          <p:nvPr/>
        </p:nvSpPr>
        <p:spPr>
          <a:xfrm>
            <a:off x="8319197" y="4414201"/>
            <a:ext cx="37525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Ag1 and Ag2 are [5x5], RLXg1 and RLXg2 are [5x2]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6D912BD-6139-4444-B253-2C979664ADDC}"/>
              </a:ext>
            </a:extLst>
          </p:cNvPr>
          <p:cNvCxnSpPr/>
          <p:nvPr/>
        </p:nvCxnSpPr>
        <p:spPr>
          <a:xfrm>
            <a:off x="11069139" y="3739110"/>
            <a:ext cx="0" cy="453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4052A27-25E6-4EFB-A12E-E1F9AF2B57DB}"/>
              </a:ext>
            </a:extLst>
          </p:cNvPr>
          <p:cNvCxnSpPr/>
          <p:nvPr/>
        </p:nvCxnSpPr>
        <p:spPr>
          <a:xfrm>
            <a:off x="8923565" y="3600445"/>
            <a:ext cx="1714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C80FD37-5207-4D61-B1EB-975D5CC8D4B8}"/>
              </a:ext>
            </a:extLst>
          </p:cNvPr>
          <p:cNvSpPr txBox="1"/>
          <p:nvPr/>
        </p:nvSpPr>
        <p:spPr>
          <a:xfrm>
            <a:off x="11192847" y="3771604"/>
            <a:ext cx="1078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grain 1</a:t>
            </a:r>
          </a:p>
          <a:p>
            <a:r>
              <a:rPr lang="en-US" sz="1200"/>
              <a:t>grain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9A434-8A66-4C97-8AD9-221518A127D0}"/>
              </a:ext>
            </a:extLst>
          </p:cNvPr>
          <p:cNvSpPr txBox="1"/>
          <p:nvPr/>
        </p:nvSpPr>
        <p:spPr>
          <a:xfrm>
            <a:off x="8623934" y="3147827"/>
            <a:ext cx="2313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each column is a basis vector in 5-dim strain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6F99DED-5664-41FE-8C8E-F30BE3E7F989}"/>
                  </a:ext>
                </a:extLst>
              </p:cNvPr>
              <p:cNvSpPr txBox="1"/>
              <p:nvPr/>
            </p:nvSpPr>
            <p:spPr>
              <a:xfrm>
                <a:off x="9280439" y="5128292"/>
                <a:ext cx="11296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6F99DED-5664-41FE-8C8E-F30BE3E7F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439" y="5128292"/>
                <a:ext cx="1129668" cy="276999"/>
              </a:xfrm>
              <a:prstGeom prst="rect">
                <a:avLst/>
              </a:prstGeom>
              <a:blipFill>
                <a:blip r:embed="rId6"/>
                <a:stretch>
                  <a:fillRect l="-3763" r="-322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C12DBE32-3B99-456D-9641-25388C07B535}"/>
              </a:ext>
            </a:extLst>
          </p:cNvPr>
          <p:cNvSpPr txBox="1"/>
          <p:nvPr/>
        </p:nvSpPr>
        <p:spPr>
          <a:xfrm>
            <a:off x="8319197" y="4813054"/>
            <a:ext cx="2887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Equation to be solved (Taylor equation):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7C468A-DC47-4342-AE38-694B6F70A978}"/>
              </a:ext>
            </a:extLst>
          </p:cNvPr>
          <p:cNvSpPr txBox="1"/>
          <p:nvPr/>
        </p:nvSpPr>
        <p:spPr>
          <a:xfrm>
            <a:off x="8317067" y="5527529"/>
            <a:ext cx="2149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D…macro strain rate [10x1]</a:t>
            </a:r>
          </a:p>
          <a:p>
            <a:r>
              <a:rPr lang="en-US" sz="1200"/>
              <a:t>X…vector of slip rates [12x1]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A8FD7E4-950A-4A03-A1D3-A40BB8629A0C}"/>
              </a:ext>
            </a:extLst>
          </p:cNvPr>
          <p:cNvSpPr txBox="1">
            <a:spLocks/>
          </p:cNvSpPr>
          <p:nvPr/>
        </p:nvSpPr>
        <p:spPr>
          <a:xfrm>
            <a:off x="313498" y="-11447"/>
            <a:ext cx="3433001" cy="4846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pancak2 subroutine</a:t>
            </a:r>
          </a:p>
        </p:txBody>
      </p:sp>
    </p:spTree>
    <p:extLst>
      <p:ext uri="{BB962C8B-B14F-4D97-AF65-F5344CB8AC3E}">
        <p14:creationId xmlns:p14="http://schemas.microsoft.com/office/powerpoint/2010/main" val="1959670235"/>
      </p:ext>
    </p:extLst>
  </p:cSld>
  <p:clrMapOvr>
    <a:masterClrMapping/>
  </p:clrMapOvr>
</p:sld>
</file>

<file path=ppt/theme/theme1.xml><?xml version="1.0" encoding="utf-8"?>
<a:theme xmlns:a="http://schemas.openxmlformats.org/drawingml/2006/main" name="KU Leuven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U Leuven Sedes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U Leuven" id="{BC384CAF-57B4-4083-BC3D-22218BF4A46A}" vid="{75672E21-F18C-4958-94B8-19E54344552B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KU Leuven</Template>
  <TotalTime>0</TotalTime>
  <Words>403</Words>
  <Application>Microsoft Office PowerPoint</Application>
  <PresentationFormat>Widescreen</PresentationFormat>
  <Paragraphs>78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Cambria Math</vt:lpstr>
      <vt:lpstr>KU Leuven</vt:lpstr>
      <vt:lpstr>KU Leuven Sedes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2017-09-13T11:47:32Z</dcterms:created>
  <dcterms:modified xsi:type="dcterms:W3CDTF">2021-02-16T10:24:48Z</dcterms:modified>
</cp:coreProperties>
</file>